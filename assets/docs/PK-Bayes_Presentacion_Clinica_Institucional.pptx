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188720" cy="118872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194560" y="1188720"/>
            <a:ext cx="3931920" cy="384048"/>
          </a:xfrm>
          <a:prstGeom prst="roundRect">
            <a:avLst/>
          </a:prstGeom>
          <a:solidFill>
            <a:srgbClr val="102A4D"/>
          </a:solidFill>
          <a:ln w="12700">
            <a:solidFill>
              <a:srgbClr val="1E4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SISTEMA DE APOYO A LA DECISIÓN CLÍNICA · CDSS v3.2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PK-Bayes</a:t>
            </a:r>
          </a:p>
          <a:p>
            <a:pPr>
              <a:spcBef>
                <a:spcPts val="800"/>
              </a:spcBef>
              <a:defRPr sz="2400" b="1">
                <a:solidFill>
                  <a:srgbClr val="38BDF8"/>
                </a:solidFill>
              </a:defRPr>
            </a:pPr>
            <a:r>
              <a:t>Farmacocinética Bayesiana de Precisión en Paciente Crítico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CBD5E1"/>
                </a:solidFill>
              </a:defRPr>
            </a:pPr>
            <a:r>
              <a:t>Plataforma clínica para la individualización posológica en tiempo real (&lt; 25 ms). Integra modelos farmacocinéticos poblacionales (PopPK), fisiología renal dinámica y concentraciones plasmáticas medidas para maximizar la eficacia terapéutica y prevenir la toxicidad.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349240"/>
            <a:ext cx="3383280" cy="822960"/>
          </a:xfrm>
          <a:prstGeom prst="roundRect">
            <a:avLst/>
          </a:prstGeom>
          <a:solidFill>
            <a:srgbClr val="102542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INFERENCIA BAYESIANA MAP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Ajuste en &lt; 25 ms con regularización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5349240"/>
            <a:ext cx="3383280" cy="822960"/>
          </a:xfrm>
          <a:prstGeom prst="roundRect">
            <a:avLst/>
          </a:prstGeom>
          <a:solidFill>
            <a:srgbClr val="102542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FUNCIÓN RENAL EN UCI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Modelado dinámico por tramos de ClCr y TCRR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5349240"/>
            <a:ext cx="3383280" cy="822960"/>
          </a:xfrm>
          <a:prstGeom prst="roundRect">
            <a:avLst/>
          </a:prstGeom>
          <a:solidFill>
            <a:srgbClr val="102542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GUÍAS ASHP / IDSA / ESCMID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Optimización AUC24/CIM e infusión continua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3891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PROBLEMA CLÍNICO &amp; VARIABILIDAD EN UCI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El Límite de la Dosis Fija: 'One Size Does NOT Fit All'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La alta variabilidad farmacocinética interindividual en el paciente crítico convierte la dosificación estándar en una ruleta clínica.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82880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SUBDOSIFICACIÓN INICIAL</a:t>
            </a:r>
          </a:p>
          <a:p>
            <a:pPr>
              <a:spcAft>
                <a:spcPts val="800"/>
              </a:spcAft>
              <a:defRPr sz="3800" b="1">
                <a:solidFill>
                  <a:srgbClr val="D97706"/>
                </a:solidFill>
              </a:defRPr>
            </a:pPr>
            <a:r>
              <a:t>42%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• Fracaso terapéutico en las primeras 48 horas de sepsis severa.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• Aparición y selección de cepas resistentes por concentraciones subóptimas.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• Aclaramiento Renal Aumentado (ARC &gt; 130 mL/min) no detectado por protocolos estándar.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• Mayor mortalidad en shock séptico por retraso en alcanzar dianas farmacodinámicas.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8308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82880"/>
          <a:lstStyle/>
          <a:p>
            <a:pPr algn="ctr">
              <a:defRPr sz="1100" b="1">
                <a:solidFill>
                  <a:srgbClr val="E11D48"/>
                </a:solidFill>
              </a:defRPr>
            </a:pPr>
            <a:r>
              <a:t>SOBREDOSIFICACIÓN &amp; TOXICIDAD</a:t>
            </a:r>
          </a:p>
          <a:p>
            <a:pPr>
              <a:spcAft>
                <a:spcPts val="800"/>
              </a:spcAft>
              <a:defRPr sz="3800" b="1">
                <a:solidFill>
                  <a:srgbClr val="E11D48"/>
                </a:solidFill>
              </a:defRPr>
            </a:pPr>
            <a:r>
              <a:t>28%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• Incidencia de Lesión Renal Aguda (LRA / AKI) asociada a glicopéptidos y aminoglucósidos.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• Sobredosis acumulativa inadvertida por deterioro dinámico de la función renal.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• Coste añadido de $8,000–$14,000 USD por paciente que requiere soporte dialítico secundario.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• Prolongación innecesaria de la estancia en camas críticas de alta complejidad.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8308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82880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RETARDOS DEL TDM TRADICIONAL</a:t>
            </a:r>
          </a:p>
          <a:p>
            <a:pPr>
              <a:spcAft>
                <a:spcPts val="800"/>
              </a:spcAft>
              <a:defRPr sz="3800" b="1">
                <a:solidFill>
                  <a:srgbClr val="0284C7"/>
                </a:solidFill>
              </a:defRPr>
            </a:pPr>
            <a:r>
              <a:t>48–72h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• El método convencional exige esperar al 'estado estacionario' (4.ª o 5.ª dosis) para medir niveles.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• Dependencia de niveles valle (Cmin) aislados que no reflejan la verdadera exposición (AUC24).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• Ajustes empíricos lineales ('a ojo') que fallan ante cinéticas no lineales o volúmenes cambiantes.</a:t>
            </a:r>
          </a:p>
          <a:p>
            <a:pPr>
              <a:spcAft>
                <a:spcPts val="400"/>
              </a:spcAft>
              <a:defRPr sz="1050">
                <a:solidFill>
                  <a:srgbClr val="64748B"/>
                </a:solidFill>
              </a:defRPr>
            </a:pPr>
            <a:r>
              <a:t>• Pérdida de la ventana de oportunidad terapéutica más crítica para el pronóstico del paciente.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3891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METODOLOGÍA &amp; FUNDAMENTO CIENTÍFICO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La Solución: Inferencia Bayesiana MAP a Pie de 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PK-Bayes fusiona el conocimiento poblacional previo con los datos clínicos y niveles medidos del paciente en milisegundos.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82880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¿CÓMO FUNCIONA EL MOTOR BAYESIANO?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1. Prior Poblacional (PopPK)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Modelos validados en miles de pacientes que definen la distribución estadística típica de Vd, Cl y variabilidad interindividual (IIV / ω²).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2. Covariables del Paciente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Ajuste individualizado según edad, peso real/ajustado, función renal por tramos temporales y terapias de soporte extracorpóreo.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3. Concentraciones Plasmáticas (TDM)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Incluso con solo 1 o 2 muestras en tiempos no estándar, el algoritmo calcula la función de verosimilitud de los niveles reales.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4. Estimación MAP (Maximum A Posteriori)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Minimiza la función objetivo bayesiana calculando los parámetros individuales (η_i) más probables en menos de 25 milisegundos.</a:t>
            </a:r>
          </a:p>
        </p:txBody>
      </p:sp>
      <p:pic>
        <p:nvPicPr>
          <p:cNvPr id="6" name="Picture 5" descr="04-simu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83080"/>
            <a:ext cx="5303520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26480" y="5029200"/>
            <a:ext cx="53035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64592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VENTAJA CLÍNICA CLAVE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No requiere esperar al estado estacionario ni extraer muestras exclusivamente en el valle estricto. La predicción es continua, anticipatoria y exacta desde la primera dosis administrada.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3891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FISIOLOGÍA RENAL DINÁMICA EN PACIENTE CRÍTICO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Modelado de Aclaramiento Renal Cambiante y TCRR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PK-Bayes supera el dogma del 'ClCr estático' mediante tramos temporales fisiológicos y soporte para diálisis continua.</a:t>
            </a:r>
          </a:p>
        </p:txBody>
      </p:sp>
      <p:pic>
        <p:nvPicPr>
          <p:cNvPr id="5" name="Picture 4" descr="03-funcion-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548640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783080"/>
            <a:ext cx="49377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64592" rIns="137160"/>
          <a:lstStyle/>
          <a:p>
            <a:pPr algn="ctr">
              <a:defRPr sz="1150" b="1">
                <a:solidFill>
                  <a:srgbClr val="0284C7"/>
                </a:solidFill>
              </a:defRPr>
            </a:pPr>
            <a:r>
              <a:t>Aclaramiento Segmentado por Tramos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Permite definir diferentes valores de creatinina y función renal a lo largo del tratamiento. Si el paciente entra en shock y luego recupera perfusión, el modelo calcula la depuración exacta en cada tramo temporal.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291839"/>
            <a:ext cx="49377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64592" rIns="137160"/>
          <a:lstStyle/>
          <a:p>
            <a:pPr algn="ctr">
              <a:defRPr sz="1150" b="1">
                <a:solidFill>
                  <a:srgbClr val="059669"/>
                </a:solidFill>
              </a:defRPr>
            </a:pPr>
            <a:r>
              <a:t>Soporte Completo para TCRR y Hemodiálisis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Parámetros específicos para hemofiltración venovenosa continua (CVVH), hemodiafiltración (CVVHDF) y diálisis intermitente. Considera tasa de efluente, dosis dialítica y aclaramiento de membrana.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4800600"/>
            <a:ext cx="493776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64592" rIns="137160"/>
          <a:lstStyle/>
          <a:p>
            <a:pPr algn="ctr">
              <a:defRPr sz="1150" b="1">
                <a:solidFill>
                  <a:srgbClr val="D97706"/>
                </a:solidFill>
              </a:defRPr>
            </a:pPr>
            <a:r>
              <a:t>Detección de Aclaramiento Aumentado (ARC)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Identifica pacientes jóvenes o politraumatizados con ClCr &gt; 130 mL/min que subdosifican antibióticos en regímenes estándar, alertando la necesidad de dosis de carga y perfusión extendida.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3891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FARMACOPEA &amp; MODELOS POBLACIONALES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Catálogo de Fármacos de Estrecho Margen Terapéutico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Modelos farmacocinéticos multi-compartimentales rigurosamente contrastados con la literatura internacional.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64592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CONSENSO ASHP/IDSA 2020</a:t>
            </a:r>
          </a:p>
          <a:p>
            <a:pPr>
              <a:defRPr sz="1350" b="1">
                <a:solidFill>
                  <a:srgbClr val="0F172A"/>
                </a:solidFill>
              </a:defRPr>
            </a:pPr>
            <a:r>
              <a:t>Vancomicina (1 y 2 Compartimentos)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Optimización guiada por AUC24/CIM (400-600 mg·h/L). Modelos de Rodvold, Thomson y Colin. Infusión intermitente y continua para prevención de nefrotoxicidad.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8308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64592"/>
          <a:lstStyle/>
          <a:p>
            <a:pPr algn="ctr">
              <a:defRPr sz="950" b="1">
                <a:solidFill>
                  <a:srgbClr val="059669"/>
                </a:solidFill>
              </a:defRPr>
            </a:pPr>
            <a:r>
              <a:t>DOSIFICACIÓN EXTENDIDA ODA</a:t>
            </a:r>
          </a:p>
          <a:p>
            <a:pPr>
              <a:defRPr sz="1350" b="1">
                <a:solidFill>
                  <a:srgbClr val="0F172A"/>
                </a:solidFill>
              </a:defRPr>
            </a:pPr>
            <a:r>
              <a:t>Aminoglucósidos (Amikacina, Gentamicina)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Maximización del ratio bactericida Cmax/CIM (&gt; 8-10) con minimización de la acumulación residual en valle (Cmin &lt; 1 mg/L) para protección coclear y renal.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64592"/>
          <a:lstStyle/>
          <a:p>
            <a:pPr algn="ctr">
              <a:defRPr sz="950" b="1">
                <a:solidFill>
                  <a:srgbClr val="D97706"/>
                </a:solidFill>
              </a:defRPr>
            </a:pPr>
            <a:r>
              <a:t>MEROPENEM, PIPERACILINA/TAZO, CEFEPIME</a:t>
            </a:r>
          </a:p>
          <a:p>
            <a:pPr>
              <a:defRPr sz="1350" b="1">
                <a:solidFill>
                  <a:srgbClr val="0F172A"/>
                </a:solidFill>
              </a:defRPr>
            </a:pPr>
            <a:r>
              <a:t>Betalactámicos en Perfusión Extendida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Optimización de diana farmacodinámica tiempo sobre CIM (100% fT &gt; CIM y 100% fT &gt; 4x CIM) para infecciones por patógenos multidiorresistentes (BMR).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64592"/>
          <a:lstStyle/>
          <a:p>
            <a:pPr algn="ctr">
              <a:defRPr sz="950" b="1">
                <a:solidFill>
                  <a:srgbClr val="E11D48"/>
                </a:solidFill>
              </a:defRPr>
            </a:pPr>
            <a:r>
              <a:t>MICHAELIS-MENTEN &amp; SHEINER-TOZER</a:t>
            </a:r>
          </a:p>
          <a:p>
            <a:pPr>
              <a:defRPr sz="1350" b="1">
                <a:solidFill>
                  <a:srgbClr val="0F172A"/>
                </a:solidFill>
              </a:defRPr>
            </a:pPr>
            <a:r>
              <a:t>Fenitoína (Cinética No Lineal Saturable)</a:t>
            </a:r>
          </a:p>
          <a:p>
            <a:pPr>
              <a:spcBef>
                <a:spcPts val="600"/>
              </a:spcBef>
              <a:defRPr sz="1050">
                <a:solidFill>
                  <a:srgbClr val="64748B"/>
                </a:solidFill>
              </a:defRPr>
            </a:pPr>
            <a:r>
              <a:t>Modelado de saturación enzimática (Vmax y Km). Corrección obligatoria de concentraciones por hipoalbuminemia y uremia para evitar intoxicación neurológica.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3891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USABILIDAD &amp; FACTORES HUMANOS EN SALUD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Flujo de Trabajo Clínico en Menos de 2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Diseñado para integrarse de forma natural en la ronda médica de UCI o en la interconsulta de farmacia clínica.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25420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201168" rIns="164592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PASO 01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Registro del Paciente</a:t>
            </a:r>
          </a:p>
          <a:p>
            <a:pPr>
              <a:lnSpc>
                <a:spcPct val="120000"/>
              </a:lnSpc>
              <a:defRPr sz="1100">
                <a:solidFill>
                  <a:srgbClr val="64748B"/>
                </a:solidFill>
              </a:defRPr>
            </a:pPr>
            <a:r>
              <a:t>Ingreso seguro y anonimizado. Selección de edad, peso real/ajustado/magro y perfil renal dinámico.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783080"/>
            <a:ext cx="25420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201168" rIns="164592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PASO 02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Régimen &amp; Muestras TDM</a:t>
            </a:r>
          </a:p>
          <a:p>
            <a:pPr>
              <a:lnSpc>
                <a:spcPct val="120000"/>
              </a:lnSpc>
              <a:defRPr sz="1100">
                <a:solidFill>
                  <a:srgbClr val="64748B"/>
                </a:solidFill>
              </a:defRPr>
            </a:pPr>
            <a:r>
              <a:t>Registro del esquema administrado (dosis, intervalo, duración infusión) y niveles medidos con hora exacta.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783080"/>
            <a:ext cx="25420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201168" rIns="164592"/>
          <a:lstStyle/>
          <a:p>
            <a:pPr algn="ctr">
              <a:defRPr sz="1100" b="1">
                <a:solidFill>
                  <a:srgbClr val="D97706"/>
                </a:solidFill>
              </a:defRPr>
            </a:pPr>
            <a:r>
              <a:t>PASO 03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Ajuste Bayesiano Instantáneo</a:t>
            </a:r>
          </a:p>
          <a:p>
            <a:pPr>
              <a:lnSpc>
                <a:spcPct val="120000"/>
              </a:lnSpc>
              <a:defRPr sz="1100">
                <a:solidFill>
                  <a:srgbClr val="64748B"/>
                </a:solidFill>
              </a:defRPr>
            </a:pPr>
            <a:r>
              <a:t>Cálculo en &lt; 25 ms. Visualización de la curva individual, aclaramiento propio, Vd real y AUC24 proyectado.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783080"/>
            <a:ext cx="25420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201168" rIns="164592"/>
          <a:lstStyle/>
          <a:p>
            <a:pPr algn="ctr">
              <a:defRPr sz="1100" b="1">
                <a:solidFill>
                  <a:srgbClr val="6366F1"/>
                </a:solidFill>
              </a:defRPr>
            </a:pPr>
            <a:r>
              <a:t>PASO 04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Simulación &amp; Recomendación</a:t>
            </a:r>
          </a:p>
          <a:p>
            <a:pPr>
              <a:lnSpc>
                <a:spcPct val="120000"/>
              </a:lnSpc>
              <a:defRPr sz="1100">
                <a:solidFill>
                  <a:srgbClr val="64748B"/>
                </a:solidFill>
              </a:defRPr>
            </a:pPr>
            <a:r>
              <a:t>Comparador de regímenes alternativos. Selección de la dosis con PTA &gt; 90% y exportación del informe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3891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COCKPIT DE TELEMETRÍA CLÍNICA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Telemetría Farmacocinética de Alta Resolución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Curvas interactivas, intervalos de credibilidad del 95% y diales semafóricos de riesgo en una sola vista.</a:t>
            </a:r>
          </a:p>
        </p:txBody>
      </p:sp>
      <p:pic>
        <p:nvPicPr>
          <p:cNvPr id="5" name="Picture 4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6217920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783080"/>
            <a:ext cx="4297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82880"/>
          <a:lstStyle/>
          <a:p>
            <a:pPr algn="ctr">
              <a:defRPr sz="1050" b="1">
                <a:solidFill>
                  <a:srgbClr val="0284C7"/>
                </a:solidFill>
              </a:defRPr>
            </a:pPr>
            <a:r>
              <a:t>INDICADORES EN TIEMPO REAL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Curva PK Individual vs. Poblacional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Contraste visual inmediato entre lo esperado estadísticamente y el perfil cinético real ajustado al paciente.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Bandas de Incertidumbre Bayesiana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Intervalos del 95% que muestran la dispersión y certeza estadística de la predicción en cada hora del intervalo.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Diales Semafóricos de Seguridad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Evaluación instantánea de probabilidad de éxito (PTA) y banderas de alarma ante riesgo de sobreexposición o acumulación.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Exportación de Reporte para Ficha Clínica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Generación de informe en PDF estandarizado con parámetros farmacocinéticos, firma profesional y trazabilidad legal.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3891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HERRAMIENTA DE SIMULACIÓN POSOLÓGICA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Comparación de Regímenes Terapéuticos Alternativos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Explore múltiples dosis, intervalos e infusiones continuas antes de redactar la indicación médica definitiva.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4754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82880"/>
          <a:lstStyle/>
          <a:p>
            <a:pPr algn="ctr">
              <a:defRPr sz="1100" b="1">
                <a:solidFill>
                  <a:srgbClr val="059669"/>
                </a:solidFill>
              </a:defRPr>
            </a:pPr>
            <a:r>
              <a:t>¿CÓMO APOYA LA DECISIÓN MÉDICA?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Simulación de Escenarios en Paralelo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Compare en una misma pantalla: 1000 mg c/12h vs. 1500 mg c/24h vs. infusión continua de 2000 mg/día.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Cálculo Preciso de AUC24 en Estado Estacionario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Proyecta si el régimen alcanzará la ventana diana (400–600 mg·h/L) sin superar niveles de seguridad renal.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Ajuste por Cambios Fisiológicos Esperados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Simule el impacto de un cambio en la función renal previsto para las próximas 24h (por ejemplo, suspensión de TCRR).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Reducción de Ensayo y Error Clínico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Elimina la necesidad de esperar varias dosis para comprobar empíricamente si el ajuste fue correcto.</a:t>
            </a:r>
          </a:p>
        </p:txBody>
      </p:sp>
      <p:pic>
        <p:nvPicPr>
          <p:cNvPr id="6" name="Picture 5" descr="04-simu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783080"/>
            <a:ext cx="566928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3891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SEGURIDAD DEL PACIENTE &amp; CALIDAD ASISTENCIAL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Impacto Clínico Respaldado por Evidencia Científica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El monitoreo bayesiano guiado por AUC24 ha demostrado superioridad clínica frente a las técnicas convencionales.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25420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64592"/>
          <a:lstStyle/>
          <a:p>
            <a:pPr algn="ctr">
              <a:defRPr sz="3600" b="1">
                <a:solidFill>
                  <a:srgbClr val="059669"/>
                </a:solidFill>
              </a:defRPr>
            </a:pPr>
            <a:r>
              <a:t>-50%</a:t>
            </a:r>
          </a:p>
          <a:p>
            <a:pPr>
              <a:spcBef>
                <a:spcPts val="800"/>
              </a:spcBef>
              <a:spcAft>
                <a:spcPts val="1200"/>
              </a:spcAft>
              <a:defRPr sz="1300" b="1">
                <a:solidFill>
                  <a:srgbClr val="0F172A"/>
                </a:solidFill>
              </a:defRPr>
            </a:pPr>
            <a:r>
              <a:t>Reducción de Nefrotoxicidad</a:t>
            </a:r>
          </a:p>
          <a:p>
            <a:pPr>
              <a:lnSpc>
                <a:spcPct val="125000"/>
              </a:lnSpc>
              <a:defRPr sz="1050">
                <a:solidFill>
                  <a:srgbClr val="64748B"/>
                </a:solidFill>
              </a:defRPr>
            </a:pPr>
            <a:r>
              <a:t>Disminución del 45% al 60% en la tasa de Lesión Renal Aguda (LRA / AKI) asociada a vancomicina.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783080"/>
            <a:ext cx="25420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64592"/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&lt; 24h</a:t>
            </a:r>
          </a:p>
          <a:p>
            <a:pPr>
              <a:spcBef>
                <a:spcPts val="800"/>
              </a:spcBef>
              <a:spcAft>
                <a:spcPts val="1200"/>
              </a:spcAft>
              <a:defRPr sz="1300" b="1">
                <a:solidFill>
                  <a:srgbClr val="0F172A"/>
                </a:solidFill>
              </a:defRPr>
            </a:pPr>
            <a:r>
              <a:t>Tiempo a Rango Óptimo</a:t>
            </a:r>
          </a:p>
          <a:p>
            <a:pPr>
              <a:lnSpc>
                <a:spcPct val="125000"/>
              </a:lnSpc>
              <a:defRPr sz="1050">
                <a:solidFill>
                  <a:srgbClr val="64748B"/>
                </a:solidFill>
              </a:defRPr>
            </a:pPr>
            <a:r>
              <a:t>Alcance de la ventana terapéutica diana en la primera jornada, frente a 48–72h con métodos tradicionales.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783080"/>
            <a:ext cx="25420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64592"/>
          <a:lstStyle/>
          <a:p>
            <a:pPr algn="ctr">
              <a:defRPr sz="3600" b="1">
                <a:solidFill>
                  <a:srgbClr val="D97706"/>
                </a:solidFill>
              </a:defRPr>
            </a:pPr>
            <a:r>
              <a:t>+92%</a:t>
            </a:r>
          </a:p>
          <a:p>
            <a:pPr>
              <a:spcBef>
                <a:spcPts val="800"/>
              </a:spcBef>
              <a:spcAft>
                <a:spcPts val="1200"/>
              </a:spcAft>
              <a:defRPr sz="1300" b="1">
                <a:solidFill>
                  <a:srgbClr val="0F172A"/>
                </a:solidFill>
              </a:defRPr>
            </a:pPr>
            <a:r>
              <a:t>Probabilidad en Diana (PTA)</a:t>
            </a:r>
          </a:p>
          <a:p>
            <a:pPr>
              <a:lnSpc>
                <a:spcPct val="125000"/>
              </a:lnSpc>
              <a:defRPr sz="1050">
                <a:solidFill>
                  <a:srgbClr val="64748B"/>
                </a:solidFill>
              </a:defRPr>
            </a:pPr>
            <a:r>
              <a:t>Porcentaje de pacientes que mantienen una exposición óptima durante las primeras 72 horas críticas.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783080"/>
            <a:ext cx="25420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64592"/>
          <a:lstStyle/>
          <a:p>
            <a:pPr algn="ctr">
              <a:defRPr sz="3600" b="1">
                <a:solidFill>
                  <a:srgbClr val="6366F1"/>
                </a:solidFill>
              </a:defRPr>
            </a:pPr>
            <a:r>
              <a:t>-1.8 d</a:t>
            </a:r>
          </a:p>
          <a:p>
            <a:pPr>
              <a:spcBef>
                <a:spcPts val="800"/>
              </a:spcBef>
              <a:spcAft>
                <a:spcPts val="1200"/>
              </a:spcAft>
              <a:defRPr sz="1300" b="1">
                <a:solidFill>
                  <a:srgbClr val="0F172A"/>
                </a:solidFill>
              </a:defRPr>
            </a:pPr>
            <a:r>
              <a:t>Estancia en UCI</a:t>
            </a:r>
          </a:p>
          <a:p>
            <a:pPr>
              <a:lnSpc>
                <a:spcPct val="125000"/>
              </a:lnSpc>
              <a:defRPr sz="1050">
                <a:solidFill>
                  <a:srgbClr val="64748B"/>
                </a:solidFill>
              </a:defRPr>
            </a:pPr>
            <a:r>
              <a:t>Reducción promedio de días de hospitalización en camas críticas para pacientes sépticos complejos.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3891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FARMACOECONOMÍA &amp; GESTIÓN SANITARIA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Retorno de Inversión Hospitalaria y Sostenibilidad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La individualización posológica previene complicaciones de alto coste y optimiza las horas del personal médico.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34564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82880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AHORRO DIRECTO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Prevención de Diálisis y Nefrotoxicidad</a:t>
            </a:r>
          </a:p>
          <a:p>
            <a:pPr>
              <a:lnSpc>
                <a:spcPct val="130000"/>
              </a:lnSpc>
              <a:defRPr sz="1100">
                <a:solidFill>
                  <a:srgbClr val="64748B"/>
                </a:solidFill>
              </a:defRPr>
            </a:pPr>
            <a:r>
              <a:t>Cada episodio de Lesión Renal Aguda en UCI que progresa a terapia de reemplazo renal genera un coste directo de entre $8,000 y $14,000 USD. Prevenir tan solo 3–4 casos al año amortiza completamente la implementación de la plataforma.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783080"/>
            <a:ext cx="34564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82880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EFICIENCIA OPERATIVA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Rotación de Camas Críticas de UCI</a:t>
            </a:r>
          </a:p>
          <a:p>
            <a:pPr>
              <a:lnSpc>
                <a:spcPct val="130000"/>
              </a:lnSpc>
              <a:defRPr sz="1100">
                <a:solidFill>
                  <a:srgbClr val="64748B"/>
                </a:solidFill>
              </a:defRPr>
            </a:pPr>
            <a:r>
              <a:t>Disminuir la estancia promedio en 1.8 a 2.3 días por paciente infectado libera camas de alta complejidad para admisiones quirúrgicas o de urgencia, descongestionando el hospital y aumentando la productividad asistencial.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0144" y="1783080"/>
            <a:ext cx="34564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82880"/>
          <a:lstStyle/>
          <a:p>
            <a:pPr algn="ctr">
              <a:defRPr sz="1000" b="1">
                <a:solidFill>
                  <a:srgbClr val="D97706"/>
                </a:solidFill>
              </a:defRPr>
            </a:pPr>
            <a:r>
              <a:t>PRODUCTIVIDAD CLÍNICA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400" b="1">
                <a:solidFill>
                  <a:srgbClr val="0F172A"/>
                </a:solidFill>
              </a:defRPr>
            </a:pPr>
            <a:r>
              <a:t>Optimización del Tiempo Farmacéutico</a:t>
            </a:r>
          </a:p>
          <a:p>
            <a:pPr>
              <a:lnSpc>
                <a:spcPct val="130000"/>
              </a:lnSpc>
              <a:defRPr sz="1100">
                <a:solidFill>
                  <a:srgbClr val="64748B"/>
                </a:solidFill>
              </a:defRPr>
            </a:pPr>
            <a:r>
              <a:t>El cálculo bayesiano manual o mediante hojas de cálculo rudimentarias toma entre 25 y 40 minutos por paciente. PK-Bayes reduce este tiempo a menos de 3 minutos, multiplicando por 10 la capacidad de cobertura del equipo PROA.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3891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CIBERSEGURIDAD &amp; CUMPLIMIENTO NORMATIVO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Seguridad de Grado Hospitalario y Privacidad por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Arquitectura construida bajo estándares internacionales de protección de datos clínicos y ciberseguridad sanitaria.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64592"/>
          <a:lstStyle/>
          <a:p>
            <a:pPr algn="ctr">
              <a:defRPr sz="1350" b="1">
                <a:solidFill>
                  <a:srgbClr val="0284C7"/>
                </a:solidFill>
              </a:defRPr>
            </a:pPr>
            <a:r>
              <a:t>Anonimización Rigurosa por Diseño</a:t>
            </a:r>
          </a:p>
          <a:p>
            <a:pPr>
              <a:lnSpc>
                <a:spcPct val="125000"/>
              </a:lnSpc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No requiere almacenar datos identificatorios directos (nombre o documento de identidad). El motor opera mediante identificadores clínicos anonimizados y transitorios.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8308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64592"/>
          <a:lstStyle/>
          <a:p>
            <a:pPr algn="ctr">
              <a:defRPr sz="1350" b="1">
                <a:solidFill>
                  <a:srgbClr val="059669"/>
                </a:solidFill>
              </a:defRPr>
            </a:pPr>
            <a:r>
              <a:t>Cifrado de Extremo a Extremo</a:t>
            </a:r>
          </a:p>
          <a:p>
            <a:pPr>
              <a:lnSpc>
                <a:spcPct val="125000"/>
              </a:lnSpc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Cifrado TLS 1.3 para todas las comunicaciones en tránsito y cifrado criptográfico AES-256 en reposo. Claves gestionadas bajo módulos de seguridad dedicados.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64592"/>
          <a:lstStyle/>
          <a:p>
            <a:pPr algn="ctr">
              <a:defRPr sz="1350" b="1">
                <a:solidFill>
                  <a:srgbClr val="D97706"/>
                </a:solidFill>
              </a:defRPr>
            </a:pPr>
            <a:r>
              <a:t>Cumplimiento HIPAA / GDPR / Salud</a:t>
            </a:r>
          </a:p>
          <a:p>
            <a:pPr>
              <a:lnSpc>
                <a:spcPct val="125000"/>
              </a:lnSpc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Alineación con directrices internacionales de privacidad y leyes de derechos y deberes del paciente. Controles de acceso basados en roles médicos (RBAC).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64592"/>
          <a:lstStyle/>
          <a:p>
            <a:pPr algn="ctr">
              <a:defRPr sz="1350" b="1">
                <a:solidFill>
                  <a:srgbClr val="6366F1"/>
                </a:solidFill>
              </a:defRPr>
            </a:pPr>
            <a:r>
              <a:t>Trazabilidad y Auditoría Clínica</a:t>
            </a:r>
          </a:p>
          <a:p>
            <a:pPr>
              <a:lnSpc>
                <a:spcPct val="125000"/>
              </a:lnSpc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Registro inmutable de auditoría para cada simulación, recomendación y exportación de informe, garantizando transparencia médico-legal ante comités de ética.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3891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INFRAESTRUCTURA &amp; CONECTIVIDAD HOSPITALARIA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Interoperabilidad HL7 FHIR y Despliegue Flexible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Capacidad de integrarse sin fricción en el ecosistema informático del hospital, LIS y ficha clínica electrónica.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228600" rIns="182880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INTEGRACIÓN CON SISTEMAS DE SALUD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Estándar HL7 FHIR R4 / R5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Conectores nativos para recibir resultados de niveles plasmáticos desde el Laboratorio Central (LIS) y datos demográficos desde el HIS/EHR.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Motor C++ / Stan MCMC en Backend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Inferencia matemática de alto rendimiento con optimización L-BFGS-B. Respuestas garantizadas en &lt; 25 milisegundos sin congelar la interfaz.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Arquitectura Web Liviana (Cloud o Local)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Frontend moderno en React / Vite con diseño 100% responsive para tablets clínicas, ordenadores de carro de UCI y estaciones de farmacia.</a:t>
            </a:r>
          </a:p>
          <a:p>
            <a:pPr>
              <a:spcBef>
                <a:spcPts val="800"/>
              </a:spcBef>
              <a:defRPr sz="1150" b="1">
                <a:solidFill>
                  <a:srgbClr val="0F172A"/>
                </a:solidFill>
              </a:defRPr>
            </a:pPr>
            <a:r>
              <a:t>API REST Segura para Servicios Hospitalarios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Endpoints documentados bajo OpenAPI para integración personalizada con plataformas de prescripción electrónica.</a:t>
            </a:r>
          </a:p>
        </p:txBody>
      </p:sp>
      <p:pic>
        <p:nvPicPr>
          <p:cNvPr id="6" name="Picture 5" descr="09-modelo-institu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83080"/>
            <a:ext cx="521208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3891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</a:defRPr>
            </a:pPr>
            <a:r>
              <a:t>ADOPCIÓN HOSPITALARIA &amp; IMPLEMENTACIÓN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13232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Ruta de Implementación del Piloto Clínico (60 Días)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Un proceso guiado y estructurado para validar el impacto asistencial y económico sin alterar la rutina del servicio.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25420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201168" rIns="164592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FASE 1 · DÍAS 1–15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350" b="1">
                <a:solidFill>
                  <a:srgbClr val="0F172A"/>
                </a:solidFill>
              </a:defRPr>
            </a:pPr>
            <a:r>
              <a:t>Parametrización &amp; Protocolos</a:t>
            </a:r>
          </a:p>
          <a:p>
            <a:pPr>
              <a:lnSpc>
                <a:spcPct val="125000"/>
              </a:lnSpc>
              <a:defRPr sz="1050">
                <a:solidFill>
                  <a:srgbClr val="64748B"/>
                </a:solidFill>
              </a:defRPr>
            </a:pPr>
            <a:r>
              <a:t>Configuración de los modelos PopPK preferidos por el comité de farmacia. Definición de dianas terapéuticas institucionales (ej. AUC 400–600 o CIM específica).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783080"/>
            <a:ext cx="25420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201168" rIns="164592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FASE 2 · DÍAS 16–30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350" b="1">
                <a:solidFill>
                  <a:srgbClr val="0F172A"/>
                </a:solidFill>
              </a:defRPr>
            </a:pPr>
            <a:r>
              <a:t>Capacitación de Equipos</a:t>
            </a:r>
          </a:p>
          <a:p>
            <a:pPr>
              <a:lnSpc>
                <a:spcPct val="125000"/>
              </a:lnSpc>
              <a:defRPr sz="1050">
                <a:solidFill>
                  <a:srgbClr val="64748B"/>
                </a:solidFill>
              </a:defRPr>
            </a:pPr>
            <a:r>
              <a:t>Talleres prácticos con casos clínicos reales para farmacéuticos clínicos, médicos de UCI e infectólogos del equipo PROA. Certificación en manejo de la plataforma.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783080"/>
            <a:ext cx="25420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201168" rIns="164592"/>
          <a:lstStyle/>
          <a:p>
            <a:pPr algn="ctr">
              <a:defRPr sz="1000" b="1">
                <a:solidFill>
                  <a:srgbClr val="D97706"/>
                </a:solidFill>
              </a:defRPr>
            </a:pPr>
            <a:r>
              <a:t>FASE 3 · DÍAS 31–60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350" b="1">
                <a:solidFill>
                  <a:srgbClr val="0F172A"/>
                </a:solidFill>
              </a:defRPr>
            </a:pPr>
            <a:r>
              <a:t>Piloto Clínico Activo</a:t>
            </a:r>
          </a:p>
          <a:p>
            <a:pPr>
              <a:lnSpc>
                <a:spcPct val="125000"/>
              </a:lnSpc>
              <a:defRPr sz="1050">
                <a:solidFill>
                  <a:srgbClr val="64748B"/>
                </a:solidFill>
              </a:defRPr>
            </a:pPr>
            <a:r>
              <a:t>Aplicación supervisada en pacientes reales en UCI. Monitorización de indicadores clave: tiempo en alcanzar diana, tasa de toxicidad y concordancia bayesiana.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783080"/>
            <a:ext cx="2542032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201168" rIns="164592"/>
          <a:lstStyle/>
          <a:p>
            <a:pPr algn="ctr">
              <a:defRPr sz="1000" b="1">
                <a:solidFill>
                  <a:srgbClr val="6366F1"/>
                </a:solidFill>
              </a:defRPr>
            </a:pPr>
            <a:r>
              <a:t>FASE 4 · DÍA 60+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350" b="1">
                <a:solidFill>
                  <a:srgbClr val="0F172A"/>
                </a:solidFill>
              </a:defRPr>
            </a:pPr>
            <a:r>
              <a:t>Evaluación &amp; Consolidación</a:t>
            </a:r>
          </a:p>
          <a:p>
            <a:pPr>
              <a:lnSpc>
                <a:spcPct val="125000"/>
              </a:lnSpc>
              <a:defRPr sz="1050">
                <a:solidFill>
                  <a:srgbClr val="64748B"/>
                </a:solidFill>
              </a:defRPr>
            </a:pPr>
            <a:r>
              <a:t>Presentación del informe de impacto clínico y retorno de inversión a la Dirección Médica y Comité de Farmacia para la adopción institucional definitiva.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188720" cy="118872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194560" y="1188720"/>
            <a:ext cx="3931920" cy="384048"/>
          </a:xfrm>
          <a:prstGeom prst="roundRect">
            <a:avLst/>
          </a:prstGeom>
          <a:solidFill>
            <a:srgbClr val="102A4D"/>
          </a:solidFill>
          <a:ln w="12700">
            <a:solidFill>
              <a:srgbClr val="1E4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MEDICINA DE PRECISIÓN · EVALUACIÓN INSTITUCIONAL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Inicie el Piloto Clínico de PK-Bayes en su Hospital</a:t>
            </a:r>
          </a:p>
          <a:p>
            <a:pPr>
              <a:spcBef>
                <a:spcPts val="800"/>
              </a:spcBef>
              <a:defRPr sz="2000">
                <a:solidFill>
                  <a:srgbClr val="38BDF8"/>
                </a:solidFill>
              </a:defRPr>
            </a:pPr>
            <a:r>
              <a:t>De la dosificación empírica al estándar de oro en farmacocinética clínica individualizada.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389120"/>
            <a:ext cx="3383280" cy="1737360"/>
          </a:xfrm>
          <a:prstGeom prst="roundRect">
            <a:avLst/>
          </a:prstGeom>
          <a:solidFill>
            <a:srgbClr val="102542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ctr">
              <a:defRPr sz="1050" b="1">
                <a:solidFill>
                  <a:srgbClr val="10B981"/>
                </a:solidFill>
              </a:defRPr>
            </a:pPr>
            <a:r>
              <a:t>DEMO EN VIVO INTERACTIVA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Acceda a la estación de simulación clínica y pruebe casos reales de vancomicina y fenitoína.</a:t>
            </a:r>
          </a:p>
          <a:p>
            <a:pPr>
              <a:spcBef>
                <a:spcPts val="800"/>
              </a:spcBef>
              <a:defRPr sz="1000" b="1">
                <a:solidFill>
                  <a:srgbClr val="38BDF8"/>
                </a:solidFill>
              </a:defRPr>
            </a:pPr>
            <a:r>
              <a:t>https://pk-bayes.onrender.com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4389120"/>
            <a:ext cx="3383280" cy="1737360"/>
          </a:xfrm>
          <a:prstGeom prst="roundRect">
            <a:avLst/>
          </a:prstGeom>
          <a:solidFill>
            <a:srgbClr val="102542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ctr">
              <a:defRPr sz="1050" b="1">
                <a:solidFill>
                  <a:srgbClr val="10B981"/>
                </a:solidFill>
              </a:defRPr>
            </a:pPr>
            <a:r>
              <a:t>SOLICITUD DE PILOTO CLÍNICO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Coordine una sesión con nuestro equipo farmacocinético para diseñar el piloto en su centro.</a:t>
            </a:r>
          </a:p>
          <a:p>
            <a:pPr>
              <a:spcBef>
                <a:spcPts val="800"/>
              </a:spcBef>
              <a:defRPr sz="1000" b="1">
                <a:solidFill>
                  <a:srgbClr val="38BDF8"/>
                </a:solidFill>
              </a:defRPr>
            </a:pPr>
            <a:r>
              <a:t>contacto@pk-bayes.com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4389120"/>
            <a:ext cx="3383280" cy="1737360"/>
          </a:xfrm>
          <a:prstGeom prst="roundRect">
            <a:avLst/>
          </a:prstGeom>
          <a:solidFill>
            <a:srgbClr val="102542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/>
          <a:lstStyle/>
          <a:p>
            <a:pPr algn="ctr">
              <a:defRPr sz="1050" b="1">
                <a:solidFill>
                  <a:srgbClr val="10B981"/>
                </a:solidFill>
              </a:defRPr>
            </a:pPr>
            <a:r>
              <a:t>PORTAL Y DOCUMENTACIÓN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Revise los modelos farmacocinéticos validados, guías clínicas y especificaciones de seguridad.</a:t>
            </a:r>
          </a:p>
          <a:p>
            <a:pPr>
              <a:spcBef>
                <a:spcPts val="800"/>
              </a:spcBef>
              <a:defRPr sz="1000" b="1">
                <a:solidFill>
                  <a:srgbClr val="38BDF8"/>
                </a:solidFill>
              </a:defRPr>
            </a:pPr>
            <a:r>
              <a:t>Portal Clínico PK-Bayes v3.2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591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PK-Bayes · Decision Support System CDSS v3.2                                                Documento Institucional Clínico                                                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